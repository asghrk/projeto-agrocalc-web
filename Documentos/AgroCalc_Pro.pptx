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9848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52A1C"/>
          </a:solidFill>
          <a:ln w="12700">
            <a:solidFill>
              <a:srgbClr val="152A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94960" y="0"/>
            <a:ext cx="640080" cy="5143500"/>
          </a:xfrm>
          <a:prstGeom prst="rect">
            <a:avLst/>
          </a:prstGeom>
          <a:solidFill>
            <a:srgbClr val="0D1B12"/>
          </a:solidFill>
          <a:ln w="12700">
            <a:solidFill>
              <a:srgbClr val="0D1B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97880" y="0"/>
            <a:ext cx="54864" cy="5143500"/>
          </a:xfrm>
          <a:prstGeom prst="rect">
            <a:avLst/>
          </a:prstGeom>
          <a:solidFill>
            <a:srgbClr val="3DDC7A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0" y="13716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dirty="0">
                <a:solidFill>
                  <a:srgbClr val="000000"/>
                </a:solidFill>
              </a:rPr>
              <a:t>🌱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5943600" y="4480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INTEGRADOR · 2025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6400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AgroCalc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3DDC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4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de Gestão e Cálculo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4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Agronegócio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3DDC7A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6576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&amp; CSS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03120" y="3657600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3DDC7A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36576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0" y="3657600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3DDC7A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36576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Computação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Silvério Luiz de Sousa · Matheus Couto · Patrícia Freitas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AGRO PRECISA DISSO?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Três lacunas reais no campo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2606040" cy="3108960"/>
          </a:xfrm>
          <a:prstGeom prst="rect">
            <a:avLst/>
          </a:prstGeom>
          <a:solidFill>
            <a:srgbClr val="1C3526"/>
          </a:solidFill>
          <a:ln w="12700">
            <a:solidFill>
              <a:srgbClr val="1C352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737360"/>
            <a:ext cx="2606040" cy="54864"/>
          </a:xfrm>
          <a:prstGeom prst="rect">
            <a:avLst/>
          </a:prstGeom>
          <a:solidFill>
            <a:srgbClr val="3DDC7A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745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💰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31272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controle de custo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7512" y="3493008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4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Pequenos produtores calculam custos de cabeça, sem ponto de equilíbrio ou margem de contribuição.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9272" y="1737360"/>
            <a:ext cx="2606040" cy="3108960"/>
          </a:xfrm>
          <a:prstGeom prst="rect">
            <a:avLst/>
          </a:prstGeom>
          <a:solidFill>
            <a:srgbClr val="1C3526"/>
          </a:solidFill>
          <a:ln w="12700">
            <a:solidFill>
              <a:srgbClr val="1C352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9272" y="1737360"/>
            <a:ext cx="2606040" cy="54864"/>
          </a:xfrm>
          <a:prstGeom prst="rect">
            <a:avLst/>
          </a:prstGeom>
          <a:solidFill>
            <a:srgbClr val="3DDC7A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18745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🏦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19272" y="25146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50–500k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319272" y="31272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máquina agrícola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83864" y="3493008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4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Financiamentos de longo prazo sem simulação de PMT ou tabela de amortização acessível.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35624" y="1737360"/>
            <a:ext cx="2606040" cy="3108960"/>
          </a:xfrm>
          <a:prstGeom prst="rect">
            <a:avLst/>
          </a:prstGeom>
          <a:solidFill>
            <a:srgbClr val="1C3526"/>
          </a:solidFill>
          <a:ln w="12700">
            <a:solidFill>
              <a:srgbClr val="1C352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35624" y="1737360"/>
            <a:ext cx="2606040" cy="54864"/>
          </a:xfrm>
          <a:prstGeom prst="rect">
            <a:avLst/>
          </a:prstGeom>
          <a:solidFill>
            <a:srgbClr val="3DDC7A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35624" y="18745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135624" y="25146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135624" y="31272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talhões sem análise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0216" y="3493008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4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Produtividade por setor fica em cadernos. Médias matriciais e comparações não são calculadas.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DD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AgroCalc Web responde a esses três problemas em um único sistema acessível via navegador.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DO SISTEMA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camadas · 3 páginas · 6 módulos · 4 scripts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8229600" cy="914400"/>
          </a:xfrm>
          <a:prstGeom prst="rect">
            <a:avLst/>
          </a:prstGeom>
          <a:solidFill>
            <a:srgbClr val="1C3526"/>
          </a:solidFill>
          <a:ln w="12700">
            <a:solidFill>
              <a:srgbClr val="1C352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00200"/>
            <a:ext cx="54864" cy="914400"/>
          </a:xfrm>
          <a:prstGeom prst="rect">
            <a:avLst/>
          </a:prstGeom>
          <a:solidFill>
            <a:srgbClr val="3DDC7A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002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81328" y="1691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DD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81328" y="20391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HTML5 + CSS3 + JavaScript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06240" y="1709928"/>
            <a:ext cx="4389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páginas semânticas · Grid/Flexbox · dark mode · 3 animações keyframes · responsivo 320px→1920px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69080" y="1737360"/>
            <a:ext cx="27432" cy="64008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79192"/>
            <a:ext cx="8229600" cy="914400"/>
          </a:xfrm>
          <a:prstGeom prst="rect">
            <a:avLst/>
          </a:prstGeom>
          <a:solidFill>
            <a:srgbClr val="1C3526"/>
          </a:solidFill>
          <a:ln w="12700">
            <a:solidFill>
              <a:srgbClr val="1C352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79192"/>
            <a:ext cx="54864" cy="914400"/>
          </a:xfrm>
          <a:prstGeom prst="rect">
            <a:avLst/>
          </a:prstGeom>
          <a:solidFill>
            <a:srgbClr val="3DDC7A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79192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81328" y="27706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DD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81328" y="31181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 + NumPy + Flask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06240" y="2788920"/>
            <a:ext cx="4389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scripts documentados · função afim · PMT · matrizes · sistema linear · gráfico Matplotlib via BytesIO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069080" y="2816352"/>
            <a:ext cx="27432" cy="64008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758184"/>
            <a:ext cx="8229600" cy="914400"/>
          </a:xfrm>
          <a:prstGeom prst="rect">
            <a:avLst/>
          </a:prstGeom>
          <a:solidFill>
            <a:srgbClr val="1C3526"/>
          </a:solidFill>
          <a:ln w="12700">
            <a:solidFill>
              <a:srgbClr val="1C352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758184"/>
            <a:ext cx="54864" cy="914400"/>
          </a:xfrm>
          <a:prstGeom prst="rect">
            <a:avLst/>
          </a:prstGeom>
          <a:solidFill>
            <a:srgbClr val="3DDC7A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758184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481328" y="38496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DD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COMPUTAÇÃO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81328" y="41970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Sistemas Numéricos + Lógica Digital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06240" y="3867912"/>
            <a:ext cx="4389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Conversor dec/bin/hex · porta AND · arquitetura CPU/RAM · linha do tempo · teoria dos conjuntos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069080" y="3895344"/>
            <a:ext cx="27432" cy="64008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773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MÓDULOS: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417320" y="4773168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3DDC7A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17320" y="477316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Painel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70048" y="4773168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3DDC7A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70048" y="477316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Custo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922776" y="4773168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2AB55E"/>
          </a:solidFill>
          <a:ln w="12700">
            <a:solidFill>
              <a:srgbClr val="2AB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22776" y="477316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Financiamento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75504" y="4773168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2AB55E"/>
          </a:solidFill>
          <a:ln w="12700">
            <a:solidFill>
              <a:srgbClr val="2AB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75504" y="477316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Conversor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28232" y="4773168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477316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Talhões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680960" y="4773168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477316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Blend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AO VIVO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Navegação pelo site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4846320" cy="914400"/>
          </a:xfrm>
          <a:prstGeom prst="rect">
            <a:avLst/>
          </a:prstGeom>
          <a:solidFill>
            <a:srgbClr val="1C3526"/>
          </a:solidFill>
          <a:ln w="12700">
            <a:solidFill>
              <a:srgbClr val="1C352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883664"/>
            <a:ext cx="402336" cy="402336"/>
          </a:xfrm>
          <a:prstGeom prst="ellipse">
            <a:avLst/>
          </a:prstGeom>
          <a:solidFill>
            <a:srgbClr val="3DDC7A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883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7190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D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0" y="17190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21031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· hero section · dark mode toggle · responsivo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4846320" cy="914400"/>
          </a:xfrm>
          <a:prstGeom prst="rect">
            <a:avLst/>
          </a:prstGeom>
          <a:solidFill>
            <a:srgbClr val="1C3526"/>
          </a:solidFill>
          <a:ln w="12700">
            <a:solidFill>
              <a:srgbClr val="1C352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2962656"/>
            <a:ext cx="402336" cy="402336"/>
          </a:xfrm>
          <a:prstGeom prst="ellipse">
            <a:avLst/>
          </a:prstGeom>
          <a:solidFill>
            <a:srgbClr val="3DDC7A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962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79806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D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calculadora.html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0" y="27980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318211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Conversor · custo · financiamento · talhões · blend · área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846320" cy="914400"/>
          </a:xfrm>
          <a:prstGeom prst="rect">
            <a:avLst/>
          </a:prstGeom>
          <a:solidFill>
            <a:srgbClr val="1C3526"/>
          </a:solidFill>
          <a:ln w="12700">
            <a:solidFill>
              <a:srgbClr val="1C352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4041648"/>
            <a:ext cx="402336" cy="402336"/>
          </a:xfrm>
          <a:prstGeom prst="ellipse">
            <a:avLst/>
          </a:prstGeom>
          <a:solidFill>
            <a:srgbClr val="3DDC7A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041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87705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D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computacao.html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31920" y="387705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426110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· AND · linha do tempo · conjuntos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709160"/>
            <a:ext cx="4846320" cy="310896"/>
          </a:xfrm>
          <a:prstGeom prst="rect">
            <a:avLst/>
          </a:prstGeom>
          <a:solidFill>
            <a:srgbClr val="2A1A00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7091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Abra o navegador e o terminal antes de começar. Tenha print de backup.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77840" y="1417320"/>
            <a:ext cx="3337560" cy="347472"/>
          </a:xfrm>
          <a:prstGeom prst="rect">
            <a:avLst/>
          </a:prstGeom>
          <a:solidFill>
            <a:srgbClr val="2A3D2E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15000" y="1517904"/>
            <a:ext cx="146304" cy="146304"/>
          </a:xfrm>
          <a:prstGeom prst="ellipse">
            <a:avLst/>
          </a:prstGeom>
          <a:solidFill>
            <a:srgbClr val="3DDC7A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89320" y="1517904"/>
            <a:ext cx="146304" cy="146304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1517904"/>
            <a:ext cx="146304" cy="14630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37960" y="1481328"/>
            <a:ext cx="2240280" cy="219456"/>
          </a:xfrm>
          <a:prstGeom prst="rect">
            <a:avLst/>
          </a:prstGeom>
          <a:solidFill>
            <a:srgbClr val="0D1B12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148132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9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agrocalc-web.github.io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577840" y="1764792"/>
            <a:ext cx="3337560" cy="3172968"/>
          </a:xfrm>
          <a:prstGeom prst="rect">
            <a:avLst/>
          </a:prstGeom>
          <a:solidFill>
            <a:srgbClr val="152A1C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77840" y="1764792"/>
            <a:ext cx="3337560" cy="292608"/>
          </a:xfrm>
          <a:prstGeom prst="rect">
            <a:avLst/>
          </a:prstGeom>
          <a:solidFill>
            <a:srgbClr val="1C3526"/>
          </a:solidFill>
          <a:ln w="12700">
            <a:solidFill>
              <a:srgbClr val="1C35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87568" y="17647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DC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  AgroCalc Web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018020" y="175793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4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 Calculadoras  Computação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577840" y="2057400"/>
            <a:ext cx="3337560" cy="822960"/>
          </a:xfrm>
          <a:prstGeom prst="rect">
            <a:avLst/>
          </a:prstGeom>
          <a:solidFill>
            <a:srgbClr val="102018"/>
          </a:solidFill>
          <a:ln w="12700">
            <a:solidFill>
              <a:srgbClr val="10201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15000" y="2112264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Ferramentas simples para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decisões melhores no campo.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0" y="2990088"/>
            <a:ext cx="1005840" cy="640080"/>
          </a:xfrm>
          <a:prstGeom prst="rect">
            <a:avLst/>
          </a:prstGeom>
          <a:solidFill>
            <a:srgbClr val="1C3526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0" y="31546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4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&amp; CSS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720840" y="2980944"/>
            <a:ext cx="1005840" cy="640080"/>
          </a:xfrm>
          <a:prstGeom prst="rect">
            <a:avLst/>
          </a:prstGeom>
          <a:solidFill>
            <a:srgbClr val="1C3526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0840" y="31546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4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772400" y="2990088"/>
            <a:ext cx="1005840" cy="640080"/>
          </a:xfrm>
          <a:prstGeom prst="rect">
            <a:avLst/>
          </a:prstGeom>
          <a:solidFill>
            <a:srgbClr val="1C3526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0" y="31546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4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Computação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8531352" y="1819656"/>
            <a:ext cx="237744" cy="182880"/>
          </a:xfrm>
          <a:prstGeom prst="ellipse">
            <a:avLst/>
          </a:prstGeom>
          <a:solidFill>
            <a:srgbClr val="0D1B12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31352" y="1819656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</a:rPr>
              <a:t>🌙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PYTHON — MATEMÁTICA APLICADA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 de Produção  ·  Financiamento PMT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60520" cy="960120"/>
          </a:xfrm>
          <a:prstGeom prst="rect">
            <a:avLst/>
          </a:prstGeom>
          <a:solidFill>
            <a:srgbClr val="1C3526"/>
          </a:solidFill>
          <a:ln w="12700">
            <a:solidFill>
              <a:srgbClr val="1C352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45720" cy="9601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Afim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17830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C(x) = cf + cv · x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2542032"/>
            <a:ext cx="4160520" cy="777240"/>
          </a:xfrm>
          <a:prstGeom prst="rect">
            <a:avLst/>
          </a:prstGeom>
          <a:solidFill>
            <a:srgbClr val="1C3526"/>
          </a:solidFill>
          <a:ln w="12700">
            <a:solidFill>
              <a:srgbClr val="1C352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542032"/>
            <a:ext cx="45720" cy="777240"/>
          </a:xfrm>
          <a:prstGeom prst="rect">
            <a:avLst/>
          </a:prstGeom>
          <a:solidFill>
            <a:srgbClr val="3DDC7A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5786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Equilíbrio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281635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DC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x* = cf / (PV − CV)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3456432"/>
            <a:ext cx="4160520" cy="1417320"/>
          </a:xfrm>
          <a:prstGeom prst="rect">
            <a:avLst/>
          </a:prstGeom>
          <a:solidFill>
            <a:srgbClr val="0A1510"/>
          </a:solidFill>
          <a:ln w="12700">
            <a:solidFill>
              <a:srgbClr val="2A403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547872"/>
            <a:ext cx="3886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custo_total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(sacas, cf, cv):
    </a:t>
            </a: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C(x) = cf + cv * x
</a:t>
            </a: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 + cv * sacas
</a:t>
            </a: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ponto_equilibrio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(cf, pv, cv):
</a:t>
            </a: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pv &lt;= cv: </a:t>
            </a: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 </a:t>
            </a: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ValueError(...)
</a:t>
            </a: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 / (pv - cv)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463040"/>
            <a:ext cx="3840480" cy="960120"/>
          </a:xfrm>
          <a:prstGeom prst="rect">
            <a:avLst/>
          </a:prstGeom>
          <a:solidFill>
            <a:srgbClr val="1C3526"/>
          </a:solidFill>
          <a:ln w="12700">
            <a:solidFill>
              <a:srgbClr val="1C352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463040"/>
            <a:ext cx="45720" cy="9601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10912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PMT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10912" y="17830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PV · [i(1+i)ⁿ] / [(1+i)ⁿ−1]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4846320" y="2542032"/>
            <a:ext cx="3840480" cy="2331720"/>
          </a:xfrm>
          <a:prstGeom prst="rect">
            <a:avLst/>
          </a:prstGeom>
          <a:solidFill>
            <a:srgbClr val="0A1510"/>
          </a:solidFill>
          <a:ln w="12700">
            <a:solidFill>
              <a:srgbClr val="2A403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2542032"/>
            <a:ext cx="3840480" cy="274320"/>
          </a:xfrm>
          <a:prstGeom prst="rect">
            <a:avLst/>
          </a:prstGeom>
          <a:solidFill>
            <a:srgbClr val="1C3526"/>
          </a:solidFill>
          <a:ln w="12700">
            <a:solidFill>
              <a:srgbClr val="1C35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542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D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58384" y="25420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D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36208" y="2542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D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22592" y="2542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D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08976" y="25420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D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2852928"/>
            <a:ext cx="3840480" cy="347472"/>
          </a:xfrm>
          <a:prstGeom prst="rect">
            <a:avLst/>
          </a:prstGeom>
          <a:solidFill>
            <a:srgbClr val="0F1E15"/>
          </a:solidFill>
          <a:ln w="12700">
            <a:solidFill>
              <a:srgbClr val="0F1E1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85292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9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58384" y="285292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R$2.524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36208" y="285292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R$750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22592" y="285292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R$1.774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808976" y="285292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R$48.226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92040" y="323697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9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58384" y="323697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R$2.524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36208" y="323697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R$723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22592" y="323697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R$1.801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808976" y="323697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R$46.425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46320" y="3621024"/>
            <a:ext cx="3840480" cy="347472"/>
          </a:xfrm>
          <a:prstGeom prst="rect">
            <a:avLst/>
          </a:prstGeom>
          <a:solidFill>
            <a:srgbClr val="0F1E15"/>
          </a:solidFill>
          <a:ln w="12700">
            <a:solidFill>
              <a:srgbClr val="0F1E1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62102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9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58384" y="362102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R$2.524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36208" y="362102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R$696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22592" y="362102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R$1.828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808976" y="362102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R$44.597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92040" y="400507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9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58384" y="400507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36208" y="400507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022592" y="400507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808976" y="400507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46320" y="4389120"/>
            <a:ext cx="3840480" cy="347472"/>
          </a:xfrm>
          <a:prstGeom prst="rect">
            <a:avLst/>
          </a:prstGeom>
          <a:solidFill>
            <a:srgbClr val="0F1E15"/>
          </a:solidFill>
          <a:ln w="12700">
            <a:solidFill>
              <a:srgbClr val="0F1E1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43891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9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358384" y="43891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R$2.524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36208" y="438912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R$37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022592" y="438912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R$2.487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808976" y="43891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D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PYTHON — MATEMÁTICA APLICADA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Mapa de Talhões  ·  Blend de Fertilizante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447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D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matriz_talhoes.py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47088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07008" y="1847088"/>
            <a:ext cx="713232" cy="512064"/>
          </a:xfrm>
          <a:prstGeom prst="rect">
            <a:avLst/>
          </a:prstGeom>
          <a:solidFill>
            <a:srgbClr val="1C3526"/>
          </a:solidFill>
          <a:ln w="12700">
            <a:solidFill>
              <a:srgbClr val="2A4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1847088"/>
            <a:ext cx="713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E8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984248" y="1847088"/>
            <a:ext cx="713232" cy="512064"/>
          </a:xfrm>
          <a:prstGeom prst="rect">
            <a:avLst/>
          </a:prstGeom>
          <a:solidFill>
            <a:srgbClr val="1C3526"/>
          </a:solidFill>
          <a:ln w="12700">
            <a:solidFill>
              <a:srgbClr val="2A4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84248" y="1847088"/>
            <a:ext cx="713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E8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58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61488" y="1847088"/>
            <a:ext cx="713232" cy="512064"/>
          </a:xfrm>
          <a:prstGeom prst="rect">
            <a:avLst/>
          </a:prstGeom>
          <a:solidFill>
            <a:srgbClr val="1C3526"/>
          </a:solidFill>
          <a:ln w="12700">
            <a:solidFill>
              <a:srgbClr val="2A4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61488" y="1847088"/>
            <a:ext cx="713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E8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38728" y="1847088"/>
            <a:ext cx="713232" cy="512064"/>
          </a:xfrm>
          <a:prstGeom prst="rect">
            <a:avLst/>
          </a:prstGeom>
          <a:solidFill>
            <a:srgbClr val="1C3526"/>
          </a:solidFill>
          <a:ln w="12700">
            <a:solidFill>
              <a:srgbClr val="2A4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8728" y="1847088"/>
            <a:ext cx="713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E8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2468880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207008" y="2468880"/>
            <a:ext cx="713232" cy="512064"/>
          </a:xfrm>
          <a:prstGeom prst="rect">
            <a:avLst/>
          </a:prstGeom>
          <a:solidFill>
            <a:srgbClr val="1C3526"/>
          </a:solidFill>
          <a:ln w="12700">
            <a:solidFill>
              <a:srgbClr val="2A4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2468880"/>
            <a:ext cx="713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E8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984248" y="2468880"/>
            <a:ext cx="713232" cy="512064"/>
          </a:xfrm>
          <a:prstGeom prst="rect">
            <a:avLst/>
          </a:prstGeom>
          <a:solidFill>
            <a:srgbClr val="3DDC7A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84248" y="2468880"/>
            <a:ext cx="713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761488" y="2468880"/>
            <a:ext cx="713232" cy="512064"/>
          </a:xfrm>
          <a:prstGeom prst="rect">
            <a:avLst/>
          </a:prstGeom>
          <a:solidFill>
            <a:srgbClr val="1C3526"/>
          </a:solidFill>
          <a:ln w="12700">
            <a:solidFill>
              <a:srgbClr val="2A40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61488" y="2468880"/>
            <a:ext cx="713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E8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538728" y="2468880"/>
            <a:ext cx="713232" cy="512064"/>
          </a:xfrm>
          <a:prstGeom prst="rect">
            <a:avLst/>
          </a:prstGeom>
          <a:solidFill>
            <a:srgbClr val="1C3526"/>
          </a:solidFill>
          <a:ln w="12700">
            <a:solidFill>
              <a:srgbClr val="2A40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38728" y="2468880"/>
            <a:ext cx="713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E8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68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3090672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207008" y="3090672"/>
            <a:ext cx="713232" cy="512064"/>
          </a:xfrm>
          <a:prstGeom prst="rect">
            <a:avLst/>
          </a:prstGeom>
          <a:solidFill>
            <a:srgbClr val="1C3526"/>
          </a:solidFill>
          <a:ln w="12700">
            <a:solidFill>
              <a:srgbClr val="2A40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07008" y="3090672"/>
            <a:ext cx="713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E8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984248" y="3090672"/>
            <a:ext cx="713232" cy="512064"/>
          </a:xfrm>
          <a:prstGeom prst="rect">
            <a:avLst/>
          </a:prstGeom>
          <a:solidFill>
            <a:srgbClr val="1C3526"/>
          </a:solidFill>
          <a:ln w="12700">
            <a:solidFill>
              <a:srgbClr val="2A40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84248" y="3090672"/>
            <a:ext cx="713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E8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761488" y="3090672"/>
            <a:ext cx="713232" cy="512064"/>
          </a:xfrm>
          <a:prstGeom prst="rect">
            <a:avLst/>
          </a:prstGeom>
          <a:solidFill>
            <a:srgbClr val="1C3526"/>
          </a:solidFill>
          <a:ln w="12700">
            <a:solidFill>
              <a:srgbClr val="2A40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61488" y="3090672"/>
            <a:ext cx="713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E8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58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538728" y="3090672"/>
            <a:ext cx="713232" cy="512064"/>
          </a:xfrm>
          <a:prstGeom prst="rect">
            <a:avLst/>
          </a:prstGeom>
          <a:solidFill>
            <a:srgbClr val="1C3526"/>
          </a:solidFill>
          <a:ln w="12700">
            <a:solidFill>
              <a:srgbClr val="2A40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38728" y="3090672"/>
            <a:ext cx="713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E8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07008" y="171907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984248" y="171907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61488" y="171907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538728" y="171907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37856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geral: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423160" y="37856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65,9 sc/ha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1056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setor: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423160" y="41056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 sc/ha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44256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por linha: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423160" y="4425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[64,0 · 73,3 · 59,0]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47457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(300 ha):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423160" y="47457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19.775 sacas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46320" y="1444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D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blend_fertilizante.py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846320" y="1783080"/>
            <a:ext cx="3840480" cy="1280160"/>
          </a:xfrm>
          <a:prstGeom prst="rect">
            <a:avLst/>
          </a:prstGeom>
          <a:solidFill>
            <a:srgbClr val="1C3526"/>
          </a:solidFill>
          <a:ln w="12700">
            <a:solidFill>
              <a:srgbClr val="1C352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84632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· x  =  b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4956048" y="23042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[0.45  0.10  0.05]   [ureia  ]   [90 kg N]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956048" y="25237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[0.00  0.46  0.00] · [superf.] = [60 kg P]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956048" y="27432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[0.00  0.00  0.60]   [KCl    ]   [60 kg K]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46320" y="3255264"/>
            <a:ext cx="310896" cy="310896"/>
          </a:xfrm>
          <a:prstGeom prst="ellipse">
            <a:avLst/>
          </a:prstGeom>
          <a:solidFill>
            <a:srgbClr val="3DDC7A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266944" y="32735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det(A) ≠ 0  →  solução única garantida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4846320" y="3758184"/>
            <a:ext cx="310896" cy="310896"/>
          </a:xfrm>
          <a:prstGeom prst="ellipse">
            <a:avLst/>
          </a:prstGeom>
          <a:solidFill>
            <a:srgbClr val="3DDC7A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46320" y="3758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266944" y="37764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numpy.linalg.solve(A, b)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4846320" y="4261104"/>
            <a:ext cx="310896" cy="310896"/>
          </a:xfrm>
          <a:prstGeom prst="ellipse">
            <a:avLst/>
          </a:prstGeom>
          <a:solidFill>
            <a:srgbClr val="3DDC7A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463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266944" y="42793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JS: Sarrus → cofatores → adj(A) → X = adj/det · b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4846320" y="4709160"/>
            <a:ext cx="3840480" cy="320040"/>
          </a:xfrm>
          <a:prstGeom prst="rect">
            <a:avLst/>
          </a:prstGeom>
          <a:solidFill>
            <a:srgbClr val="0A1510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92040" y="4709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Ureia: 199,2 kg/ha  ·  Superf.: 130,4 kg/ha  ·  KCl: 100,0 kg/ha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— HTML &amp; CSS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Responsividade · Animações · Dark Mode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90472"/>
            <a:ext cx="5029200" cy="585216"/>
          </a:xfrm>
          <a:prstGeom prst="rect">
            <a:avLst/>
          </a:prstGeom>
          <a:solidFill>
            <a:srgbClr val="1C3526"/>
          </a:solidFill>
          <a:ln w="12700">
            <a:solidFill>
              <a:srgbClr val="1C352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90472"/>
            <a:ext cx="502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5568" y="154533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 Grid responsivo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15568" y="179222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D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repeat(auto-fit, minmax(280px, 1fr))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85416"/>
            <a:ext cx="5029200" cy="585216"/>
          </a:xfrm>
          <a:prstGeom prst="rect">
            <a:avLst/>
          </a:prstGeom>
          <a:solidFill>
            <a:srgbClr val="1C3526"/>
          </a:solidFill>
          <a:ln w="12700">
            <a:solidFill>
              <a:srgbClr val="1C352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185416"/>
            <a:ext cx="502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🍔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15568" y="224028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Menu hambúrguer CSS puro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5568" y="248716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D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checkbox + label  |  sem JavaScript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5029200" cy="585216"/>
          </a:xfrm>
          <a:prstGeom prst="rect">
            <a:avLst/>
          </a:prstGeom>
          <a:solidFill>
            <a:srgbClr val="1C3526"/>
          </a:solidFill>
          <a:ln w="12700">
            <a:solidFill>
              <a:srgbClr val="1C352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880360"/>
            <a:ext cx="502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15568" y="293522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tokens + dark mode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318211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D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 vars  |  html[data-theme='light']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575304"/>
            <a:ext cx="5029200" cy="585216"/>
          </a:xfrm>
          <a:prstGeom prst="rect">
            <a:avLst/>
          </a:prstGeom>
          <a:solidFill>
            <a:srgbClr val="1C3526"/>
          </a:solidFill>
          <a:ln w="12700">
            <a:solidFill>
              <a:srgbClr val="1C352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575304"/>
            <a:ext cx="502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✨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15568" y="363016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animações keyframes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387705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D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fadeUp  ·  slideIn  ·  pulse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270248"/>
            <a:ext cx="5029200" cy="585216"/>
          </a:xfrm>
          <a:prstGeom prst="rect">
            <a:avLst/>
          </a:prstGeom>
          <a:solidFill>
            <a:srgbClr val="1C3526"/>
          </a:solidFill>
          <a:ln w="12700">
            <a:solidFill>
              <a:srgbClr val="1C352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4270248"/>
            <a:ext cx="502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♿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15568" y="432511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 semântico + a11y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15568" y="457200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D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&lt;header&gt;&lt;nav&gt;&lt;main&gt;&lt;section&gt;&lt;footer&gt;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0" y="1463040"/>
            <a:ext cx="3017520" cy="3493008"/>
          </a:xfrm>
          <a:prstGeom prst="rect">
            <a:avLst/>
          </a:prstGeom>
          <a:solidFill>
            <a:srgbClr val="0A1510"/>
          </a:solidFill>
          <a:ln w="12700">
            <a:solidFill>
              <a:srgbClr val="2A403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779008" y="1572768"/>
            <a:ext cx="281635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 {
</a:t>
            </a:r>
            <a:r>
              <a:rPr lang="en-US" sz="95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--cor-fundo: 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#0c1511;
</a:t>
            </a:r>
            <a:r>
              <a:rPr lang="en-US" sz="95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--cor-primaria: 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#7ddc8b;
</a:t>
            </a:r>
            <a:r>
              <a:rPr lang="en-US" sz="95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--fonte: 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'Inter';
</a:t>
            </a:r>
            <a:r>
              <a:rPr lang="en-US" sz="95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--raio: 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22px;
</a:t>
            </a: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@keyframes </a:t>
            </a: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fadeUp {
</a:t>
            </a: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</a:t>
            </a:r>
            <a:r>
              <a:rPr lang="en-US" sz="95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opacity: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0;
</a:t>
            </a:r>
            <a:r>
              <a:rPr lang="en-US" sz="95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transform: 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translateY(24px);
  }
</a:t>
            </a: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</a:t>
            </a: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:hover </a:t>
            </a:r>
            <a:r>
              <a:rPr lang="en-US" sz="95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  transform: 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translateY(-6px);
</a:t>
            </a:r>
            <a:r>
              <a:rPr lang="en-US" sz="95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COMPUTAÇÃO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Conversor · Porta AND · Arquitetura · Timeline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90472"/>
            <a:ext cx="4160520" cy="1993392"/>
          </a:xfrm>
          <a:prstGeom prst="rect">
            <a:avLst/>
          </a:prstGeom>
          <a:solidFill>
            <a:srgbClr val="1C3526"/>
          </a:solidFill>
          <a:ln w="12700">
            <a:solidFill>
              <a:srgbClr val="1C352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DC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🔢  Conversor de Numeração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8366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97864" y="188366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Binário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304288" y="188366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53512" y="18836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157984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97864" y="215798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10101111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04288" y="2157984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53512" y="21579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9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 umidade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42032"/>
            <a:ext cx="4160520" cy="347472"/>
          </a:xfrm>
          <a:prstGeom prst="rect">
            <a:avLst/>
          </a:prstGeom>
          <a:solidFill>
            <a:srgbClr val="0F1E15"/>
          </a:solidFill>
          <a:ln w="12700">
            <a:solidFill>
              <a:srgbClr val="0F1E1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54203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97864" y="254203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11111111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04288" y="254203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53512" y="254203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9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 máximo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292608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97864" y="292608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04288" y="292608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53512" y="29260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9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hex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28032" y="1490472"/>
            <a:ext cx="3858768" cy="1993392"/>
          </a:xfrm>
          <a:prstGeom prst="rect">
            <a:avLst/>
          </a:prstGeom>
          <a:solidFill>
            <a:srgbClr val="1C3526"/>
          </a:solidFill>
          <a:ln w="12700">
            <a:solidFill>
              <a:srgbClr val="1C352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56048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DC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🔌  Porta AND — Decisão de Irrigação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188366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Umidade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15584" y="1883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84848" y="18836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88352" y="188366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37760" y="215798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15584" y="21579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84848" y="21579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88352" y="215798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9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Não irrigar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0" y="248716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15584" y="248716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84848" y="248716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88352" y="24871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9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Não irrigar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37760" y="28163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815584" y="28163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84848" y="281635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88352" y="281635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9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Não irrigar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28032" y="3145536"/>
            <a:ext cx="3858768" cy="310896"/>
          </a:xfrm>
          <a:prstGeom prst="rect">
            <a:avLst/>
          </a:prstGeom>
          <a:solidFill>
            <a:srgbClr val="0A2010"/>
          </a:solidFill>
          <a:ln w="12700">
            <a:solidFill>
              <a:srgbClr val="0A201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314553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D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815584" y="31455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D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784848" y="314553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D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388352" y="314553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D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Irrigar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3639312"/>
            <a:ext cx="8229600" cy="1325880"/>
          </a:xfrm>
          <a:prstGeom prst="rect">
            <a:avLst/>
          </a:prstGeom>
          <a:solidFill>
            <a:srgbClr val="1C3526"/>
          </a:solidFill>
          <a:ln w="12700">
            <a:solidFill>
              <a:srgbClr val="1C352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94360" y="36850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DC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📅  Linha do Tempo — Computação no Agronegócio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22960" y="4242816"/>
            <a:ext cx="7772400" cy="36576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97280" y="4160520"/>
            <a:ext cx="164592" cy="164592"/>
          </a:xfrm>
          <a:prstGeom prst="ellipse">
            <a:avLst/>
          </a:prstGeom>
          <a:solidFill>
            <a:srgbClr val="3DDC7A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4400" y="43708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1950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22960" y="460857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Máquinas de calcular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633472" y="4160520"/>
            <a:ext cx="164592" cy="164592"/>
          </a:xfrm>
          <a:prstGeom prst="ellipse">
            <a:avLst/>
          </a:prstGeom>
          <a:solidFill>
            <a:srgbClr val="3DDC7A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450592" y="43708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1970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359152" y="460857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Planilhas rurais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169664" y="4160520"/>
            <a:ext cx="164592" cy="164592"/>
          </a:xfrm>
          <a:prstGeom prst="ellipse">
            <a:avLst/>
          </a:prstGeom>
          <a:solidFill>
            <a:srgbClr val="3DDC7A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86784" y="43708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1990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895344" y="460857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gestão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705856" y="4160520"/>
            <a:ext cx="164592" cy="164592"/>
          </a:xfrm>
          <a:prstGeom prst="ellipse">
            <a:avLst/>
          </a:prstGeom>
          <a:solidFill>
            <a:srgbClr val="3DDC7A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22976" y="43708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2010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431536" y="460857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no campo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242048" y="4160520"/>
            <a:ext cx="164592" cy="164592"/>
          </a:xfrm>
          <a:prstGeom prst="ellipse">
            <a:avLst/>
          </a:prstGeom>
          <a:solidFill>
            <a:srgbClr val="3DDC7A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59168" y="43708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2020+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967728" y="460857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dados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4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tempo real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DIFICULDADES E APRENDIZADOS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Quatro obstáculos reais — e como foram superados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90472"/>
            <a:ext cx="4160520" cy="1572768"/>
          </a:xfrm>
          <a:prstGeom prst="rect">
            <a:avLst/>
          </a:prstGeom>
          <a:solidFill>
            <a:srgbClr val="1C3526"/>
          </a:solidFill>
          <a:ln w="12700">
            <a:solidFill>
              <a:srgbClr val="1C352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90472"/>
            <a:ext cx="45720" cy="1572768"/>
          </a:xfrm>
          <a:prstGeom prst="rect">
            <a:avLst/>
          </a:prstGeom>
          <a:solidFill>
            <a:srgbClr val="3DDC7A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655064"/>
            <a:ext cx="384048" cy="256032"/>
          </a:xfrm>
          <a:prstGeom prst="rect">
            <a:avLst/>
          </a:prstGeom>
          <a:solidFill>
            <a:srgbClr val="3DDC7A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5506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" y="1627632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🔗 Integração Python ↔ Web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03911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Gráfico em tempo real no navegador via Python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2331720"/>
            <a:ext cx="3858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Flask serve PNG via BytesIO (sem disco). JS faz fetch → img.src = blob URL.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490472"/>
            <a:ext cx="4160520" cy="1572768"/>
          </a:xfrm>
          <a:prstGeom prst="rect">
            <a:avLst/>
          </a:prstGeom>
          <a:solidFill>
            <a:srgbClr val="1C3526"/>
          </a:solidFill>
          <a:ln w="12700">
            <a:solidFill>
              <a:srgbClr val="1C352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490472"/>
            <a:ext cx="45720" cy="1572768"/>
          </a:xfrm>
          <a:prstGeom prst="rect">
            <a:avLst/>
          </a:prstGeom>
          <a:solidFill>
            <a:srgbClr val="3DDC7A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10912" y="1655064"/>
            <a:ext cx="384048" cy="256032"/>
          </a:xfrm>
          <a:prstGeom prst="rect">
            <a:avLst/>
          </a:prstGeom>
          <a:solidFill>
            <a:srgbClr val="3DDC7A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165506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04688" y="1627632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🌙 Dark Mode + localStorage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47488" y="203911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Persistência de tema entre páginas e sessions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47488" y="2331720"/>
            <a:ext cx="3858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try/catch isola falha em modo privado. Fallback transparente para dark padrão.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4160520" cy="1572768"/>
          </a:xfrm>
          <a:prstGeom prst="rect">
            <a:avLst/>
          </a:prstGeom>
          <a:solidFill>
            <a:srgbClr val="1C3526"/>
          </a:solidFill>
          <a:ln w="12700">
            <a:solidFill>
              <a:srgbClr val="1C352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246120"/>
            <a:ext cx="45720" cy="1572768"/>
          </a:xfrm>
          <a:prstGeom prst="rect">
            <a:avLst/>
          </a:prstGeom>
          <a:solidFill>
            <a:srgbClr val="3DDC7A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3410712"/>
            <a:ext cx="384048" cy="256032"/>
          </a:xfrm>
          <a:prstGeom prst="rect">
            <a:avLst/>
          </a:prstGeom>
          <a:solidFill>
            <a:srgbClr val="3DDC7A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4107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5568" y="338328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🧮 Sistema linear sem NumPy no JS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" y="379476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numpy.linalg.solve() não existe em JavaScript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368" y="4087368"/>
            <a:ext cx="3858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Sarrus → cofatores → adj(A) → X = adj/det · b. Entendimento real do algoritmo.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246120"/>
            <a:ext cx="4160520" cy="1572768"/>
          </a:xfrm>
          <a:prstGeom prst="rect">
            <a:avLst/>
          </a:prstGeom>
          <a:solidFill>
            <a:srgbClr val="1C3526"/>
          </a:solidFill>
          <a:ln w="12700">
            <a:solidFill>
              <a:srgbClr val="1C352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246120"/>
            <a:ext cx="45720" cy="1572768"/>
          </a:xfrm>
          <a:prstGeom prst="rect">
            <a:avLst/>
          </a:prstGeom>
          <a:solidFill>
            <a:srgbClr val="3DDC7A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10912" y="3410712"/>
            <a:ext cx="384048" cy="256032"/>
          </a:xfrm>
          <a:prstGeom prst="rect">
            <a:avLst/>
          </a:prstGeom>
          <a:solidFill>
            <a:srgbClr val="3DDC7A"/>
          </a:solidFill>
          <a:ln w="12700">
            <a:solidFill>
              <a:srgbClr val="3DDC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34107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04688" y="338328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Grade 3×4 de talhões em mobile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47488" y="379476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12 inputs quebravam o layout em telas pequenas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47488" y="4087368"/>
            <a:ext cx="3858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.talhoes-row com CSS Grid + labels abreviados via @media (max-width: 480px).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foi entregue — e o que vem a seguir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DDC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21214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48840" y="1463040"/>
            <a:ext cx="36576" cy="822960"/>
          </a:xfrm>
          <a:prstGeom prst="rect">
            <a:avLst/>
          </a:prstGeom>
          <a:solidFill>
            <a:srgbClr val="1C3526"/>
          </a:solidFill>
          <a:ln w="12700">
            <a:solidFill>
              <a:srgbClr val="1C35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0280" y="1417320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DDC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240280" y="21214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Py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86200" y="1463040"/>
            <a:ext cx="36576" cy="822960"/>
          </a:xfrm>
          <a:prstGeom prst="rect">
            <a:avLst/>
          </a:prstGeom>
          <a:solidFill>
            <a:srgbClr val="1C3526"/>
          </a:solidFill>
          <a:ln w="12700">
            <a:solidFill>
              <a:srgbClr val="1C35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0" y="1417320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977640" y="21214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bônus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23560" y="1463040"/>
            <a:ext cx="36576" cy="822960"/>
          </a:xfrm>
          <a:prstGeom prst="rect">
            <a:avLst/>
          </a:prstGeom>
          <a:solidFill>
            <a:srgbClr val="1C3526"/>
          </a:solidFill>
          <a:ln w="12700">
            <a:solidFill>
              <a:srgbClr val="1C35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1417320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1008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5715000" y="21214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CSS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60920" y="1463040"/>
            <a:ext cx="36576" cy="822960"/>
          </a:xfrm>
          <a:prstGeom prst="rect">
            <a:avLst/>
          </a:prstGeom>
          <a:solidFill>
            <a:srgbClr val="1C3526"/>
          </a:solidFill>
          <a:ln w="12700">
            <a:solidFill>
              <a:srgbClr val="1C35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52360" y="1417320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6B9E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519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7452360" y="21214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JS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743200"/>
            <a:ext cx="8046720" cy="27432"/>
          </a:xfrm>
          <a:prstGeom prst="rect">
            <a:avLst/>
          </a:prstGeom>
          <a:solidFill>
            <a:srgbClr val="1C3526"/>
          </a:solidFill>
          <a:ln w="12700">
            <a:solidFill>
              <a:srgbClr val="1C35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834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O que foi entregue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200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HTML semântico · CSS externo · 0 estilos inline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5021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Grid responsivo · menu CSS puro · 3 animações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8039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Dark mode com toggle e persistência (bônus)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1056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4 scripts Python · try/except · docstrings · type hints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4074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Flask + Matplotlib integrado ao browser (bônus)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709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Conversor num. · porta AND · linha do tempo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2834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Possibilidades de expansão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37760" y="3200400"/>
            <a:ext cx="3749040" cy="530352"/>
          </a:xfrm>
          <a:prstGeom prst="rect">
            <a:avLst/>
          </a:prstGeom>
          <a:solidFill>
            <a:srgbClr val="1C3526"/>
          </a:solidFill>
          <a:ln w="12700">
            <a:solidFill>
              <a:srgbClr val="1C352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37760" y="3200400"/>
            <a:ext cx="45720" cy="53035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02352" y="32918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por produtor + histórico de cálculos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37760" y="3803904"/>
            <a:ext cx="3749040" cy="530352"/>
          </a:xfrm>
          <a:prstGeom prst="rect">
            <a:avLst/>
          </a:prstGeom>
          <a:solidFill>
            <a:srgbClr val="1C3526"/>
          </a:solidFill>
          <a:ln w="12700">
            <a:solidFill>
              <a:srgbClr val="1C352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3803904"/>
            <a:ext cx="45720" cy="53035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02352" y="389534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cotação de commodities em tempo real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37760" y="4407408"/>
            <a:ext cx="3749040" cy="530352"/>
          </a:xfrm>
          <a:prstGeom prst="rect">
            <a:avLst/>
          </a:prstGeom>
          <a:solidFill>
            <a:srgbClr val="1C3526"/>
          </a:solidFill>
          <a:ln w="12700">
            <a:solidFill>
              <a:srgbClr val="1C352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937760" y="4407408"/>
            <a:ext cx="45720" cy="53035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02352" y="44988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de resultados em PDF no browser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91094" y="490118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"Tecnologia não é o oposto da natureza — é a ferramenta que nos aproxima dela com inteligência."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1259</Words>
  <Application>Microsoft Office PowerPoint</Application>
  <PresentationFormat>Apresentação na tela (16:9)</PresentationFormat>
  <Paragraphs>275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AgroCalc Web — Projeto Integrador</dc:title>
  <dc:subject>PptxGenJS Presentation</dc:subject>
  <dc:creator>PptxGenJS</dc:creator>
  <cp:lastModifiedBy>Asghrk Casari</cp:lastModifiedBy>
  <cp:revision>2</cp:revision>
  <dcterms:created xsi:type="dcterms:W3CDTF">2026-06-08T04:06:42Z</dcterms:created>
  <dcterms:modified xsi:type="dcterms:W3CDTF">2026-06-11T13:51:41Z</dcterms:modified>
</cp:coreProperties>
</file>